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52" autoAdjust="0"/>
    <p:restoredTop sz="94658" autoAdjust="0"/>
  </p:normalViewPr>
  <p:slideViewPr>
    <p:cSldViewPr snapToGrid="0" snapToObjects="1">
      <p:cViewPr varScale="1">
        <p:scale>
          <a:sx n="139" d="100"/>
          <a:sy n="139" d="100"/>
        </p:scale>
        <p:origin x="176" y="51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0201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0051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713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1122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895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0659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720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3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557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791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554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832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7910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Smart Electric Vehicle Charging in Office Buildings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t>Thesis Presentation</a:t>
            </a:r>
            <a:br/>
            <a:br/>
            <a:r>
              <a:t>ChargingAlgorithm thesis deck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Workplace charging is becoming important as EV adoption grows.</a:t>
            </a:r>
          </a:p>
          <a:p>
            <a:pPr lvl="0"/>
            <a:r>
              <a:t>Office buildings are a strong use case because parking duration is long and daily patterns are predictable.</a:t>
            </a:r>
          </a:p>
          <a:p>
            <a:pPr lvl="0"/>
            <a:r>
              <a:t>Rooftop PV creates an opportunity to align charging demand with local renewable generation.</a:t>
            </a:r>
          </a:p>
          <a:p>
            <a:pPr lvl="0"/>
            <a:r>
              <a:t>The central question is how much charging intelligence is actually worth in practice.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Research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lvl="0"/>
            <a:r>
              <a:rPr sz="1800" dirty="0"/>
              <a:t>Evaluate smart EV charging strategies for a single office building with rooftop PV, stationary storage, and a constrained grid connection.</a:t>
            </a:r>
          </a:p>
          <a:p>
            <a:pPr lvl="0"/>
            <a:r>
              <a:rPr sz="1800" dirty="0"/>
              <a:t>Compare three intelligence levels reported in the current thesis results:</a:t>
            </a:r>
          </a:p>
          <a:p>
            <a:pPr lvl="1"/>
            <a:r>
              <a:rPr sz="1800" dirty="0"/>
              <a:t>Level 1: simple rule-based charging</a:t>
            </a:r>
          </a:p>
          <a:p>
            <a:pPr lvl="1"/>
            <a:r>
              <a:rPr sz="1800" dirty="0"/>
              <a:t>Level 2: reinforcement learning based optimization</a:t>
            </a:r>
          </a:p>
          <a:p>
            <a:pPr lvl="1"/>
            <a:r>
              <a:rPr sz="1800" dirty="0"/>
              <a:t>Level 3: RL with V2G enabled</a:t>
            </a:r>
          </a:p>
          <a:p>
            <a:pPr lvl="0"/>
            <a:r>
              <a:rPr sz="1800" dirty="0"/>
              <a:t>Measure economic, operational, and renewable-integration performance.</a:t>
            </a:r>
          </a:p>
          <a:p>
            <a:pPr lvl="0"/>
            <a:r>
              <a:rPr sz="1800" dirty="0"/>
              <a:t>Validate findings over a full annual simulation (365 days of 2018 data).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9D4B225-18E9-4C5B-94D8-2ABE6D16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0422" y="1385316"/>
            <a:ext cx="720564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1" descr="figures/solar_production_profile.png"/>
          <p:cNvPicPr>
            <a:picLocks noGrp="1" noChangeAspect="1"/>
          </p:cNvPicPr>
          <p:nvPr/>
        </p:nvPicPr>
        <p:blipFill>
          <a:blip r:embed="rId3">
            <a:alphaModFix amt="50000"/>
          </a:blip>
          <a:srcRect l="12002" r="-1" b="-1"/>
          <a:stretch>
            <a:fillRect/>
          </a:stretch>
        </p:blipFill>
        <p:spPr bwMode="auto">
          <a:xfrm>
            <a:off x="228" y="10"/>
            <a:ext cx="9143772" cy="5143490"/>
          </a:xfrm>
          <a:prstGeom prst="rect">
            <a:avLst/>
          </a:prstGeom>
          <a:noFill/>
        </p:spPr>
      </p:pic>
      <p:sp>
        <p:nvSpPr>
          <p:cNvPr id="19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1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defTabSz="914400"/>
            <a:r>
              <a:rPr lang="en-US" sz="3200"/>
              <a:t>Case Study Setup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32477" y="895350"/>
            <a:ext cx="4563818" cy="352425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indent="-228600" defTabSz="914400">
              <a:buFont typeface="Arial" panose="020B0604020202020204" pitchFamily="34" charset="0"/>
              <a:buChar char="•"/>
            </a:pPr>
            <a:r>
              <a:rPr lang="en-US" dirty="0"/>
              <a:t>Building demand: mean 6.73 kW, peak 11.92 kW, annual energy 58,992 kWh</a:t>
            </a:r>
          </a:p>
          <a:p>
            <a:pPr lvl="0" indent="-228600" defTabSz="914400">
              <a:buFont typeface="Arial" panose="020B0604020202020204" pitchFamily="34" charset="0"/>
              <a:buChar char="•"/>
            </a:pPr>
            <a:r>
              <a:rPr lang="en-US" dirty="0"/>
              <a:t>PV system: 150 m² rooftop array, 30 kW peak, annual production 44,908 kWh</a:t>
            </a:r>
          </a:p>
          <a:p>
            <a:pPr lvl="0" indent="-228600" defTabSz="914400">
              <a:buFont typeface="Arial" panose="020B0604020202020204" pitchFamily="34" charset="0"/>
              <a:buChar char="•"/>
            </a:pPr>
            <a:r>
              <a:rPr lang="en-US" dirty="0"/>
              <a:t>Building battery: 80 kWh, 95% efficiency, 50 kW max charge/discharge</a:t>
            </a:r>
          </a:p>
          <a:p>
            <a:pPr lvl="0" indent="-228600" defTabSz="914400">
              <a:buFont typeface="Arial" panose="020B0604020202020204" pitchFamily="34" charset="0"/>
              <a:buChar char="•"/>
            </a:pPr>
            <a:r>
              <a:rPr lang="en-US" dirty="0"/>
              <a:t>EV fleet: 15 vehicles, 100 kWh battery each, 22 kW charging, 22 kW V2G capability</a:t>
            </a:r>
          </a:p>
          <a:p>
            <a:pPr lvl="0" indent="-228600" defTabSz="914400">
              <a:buFont typeface="Arial" panose="020B0604020202020204" pitchFamily="34" charset="0"/>
              <a:buChar char="•"/>
            </a:pPr>
            <a:r>
              <a:rPr lang="en-US" dirty="0"/>
              <a:t>Mobility pattern: arrivals 06:00–09:00, departures 16:00–20:00, target departure SoC 70–80%</a:t>
            </a:r>
          </a:p>
          <a:p>
            <a:pPr lvl="0" indent="-228600" defTabSz="914400">
              <a:buFont typeface="Arial" panose="020B0604020202020204" pitchFamily="34" charset="0"/>
              <a:buChar char="•"/>
            </a:pPr>
            <a:r>
              <a:rPr lang="en-US" dirty="0"/>
              <a:t>Grid connection: 80 kW limit with day-ahead French wholesale prices</a:t>
            </a:r>
          </a:p>
        </p:txBody>
      </p:sp>
      <p:sp>
        <p:nvSpPr>
          <p:cNvPr id="27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Office Buildings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85000" lnSpcReduction="20000"/>
          </a:bodyPr>
          <a:lstStyle/>
          <a:p>
            <a:pPr lvl="0"/>
            <a:r>
              <a:t>Daily occupancy patterns make arrival and departure times relatively predictable.</a:t>
            </a:r>
          </a:p>
          <a:p>
            <a:pPr lvl="0"/>
            <a:r>
              <a:t>Long parking windows provide flexibility to shift charging in time.</a:t>
            </a:r>
          </a:p>
          <a:p>
            <a:pPr lvl="0"/>
            <a:r>
              <a:t>Office hours overlap with solar production, improving self-consumption potential.</a:t>
            </a:r>
          </a:p>
          <a:p>
            <a:pPr lvl="0"/>
            <a:r>
              <a:t>Charging is easier to coordinate centrally than in fully decentralized home charging.</a:t>
            </a:r>
          </a:p>
        </p:txBody>
      </p:sp>
      <p:pic>
        <p:nvPicPr>
          <p:cNvPr id="3" name="Picture 1" descr="figures/building_consumption_profil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Methods Compared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Main idea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Practical cost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Simple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Charge with available capacity using a deterministic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Very 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RL (Q-learning)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Learn when to delay or prioritize charging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Moderate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RL + V2G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Add discharge decisions and possible arbitrage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Highest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All methods were tested on the same 15-EV office-building scenario.</a:t>
            </a:r>
          </a:p>
          <a:p>
            <a:pPr lvl="0"/>
            <a:r>
              <a:t>Full annual simulation: 365 days using real 2018 French wholesale prices and PVGIS solar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Annual Charge-Only Results (365 Days)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04200" cy="891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Avg Daily Cost (€)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Annual Cost (€)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Annual Savings (€)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Savings (%)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Simple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10,873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10,753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pPr lvl="0"/>
            <a:r>
              <a:rPr dirty="0"/>
              <a:t>RL reduces annual charging cost by €120 (1.1%) compared to the simple controller.</a:t>
            </a:r>
          </a:p>
          <a:p>
            <a:pPr lvl="0"/>
            <a:r>
              <a:rPr dirty="0"/>
              <a:t>Both methods satisfy the 80 kW grid limit with zero violations across all 365 days.</a:t>
            </a:r>
          </a:p>
          <a:p>
            <a:pPr lvl="0"/>
            <a:r>
              <a:rPr dirty="0"/>
              <a:t>Zero SoC violations: all vehicles reach target departure charge every day.</a:t>
            </a:r>
          </a:p>
        </p:txBody>
      </p:sp>
      <p:pic>
        <p:nvPicPr>
          <p:cNvPr id="2" name="Picture 1" descr="figures/simulation_results_mult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28600"/>
            <a:ext cx="5105400" cy="431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Annual Energy 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04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Daily Solar Used (kWh)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Daily Grid Energy (kWh)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Daily Energy Charged (kWh)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Cost/kWh (€)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Simple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57.9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677.9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735.8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0.0440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59.4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671.6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731.1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0.0439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RL uses 2.6% more solar energy daily (59.4 vs 57.9 kWh) by better aligning charging with PV production.</a:t>
            </a:r>
          </a:p>
          <a:p>
            <a:pPr lvl="0"/>
            <a:r>
              <a:t>RL reduces grid energy consumption by 0.9% (671.6 vs 677.9 kWh/day).</a:t>
            </a:r>
          </a:p>
          <a:p>
            <a:pPr lvl="0"/>
            <a:r>
              <a:t>Annual grid energy: Simple 247,420 kWh vs RL 245,150 kWh — a reduction of 2,270 kWh/year.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Solar Self-Consumption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Solar Self-Consumption (%)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No EVs (building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49.6%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With EVs — Simple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96.7%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With EVs — 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97.9%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/>
          </a:bodyPr>
          <a:lstStyle/>
          <a:p>
            <a:pPr lvl="0"/>
            <a:r>
              <a:t>EVs nearly double solar self-consumption from 49.6% to over 96%.</a:t>
            </a:r>
          </a:p>
          <a:p>
            <a:pPr lvl="0"/>
            <a:r>
              <a:t>RL further improves self-consumption by 1.2 percentage points over Simple.</a:t>
            </a:r>
          </a:p>
          <a:p>
            <a:pPr lvl="0"/>
            <a:r>
              <a:t>Daily solar production: 123.0 kWh, of which 61.0 kWh is used by the building.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Annual V2G Results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42300" cy="891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7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7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Avg Daily Cost (€)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Annual Cost (€)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Savings vs Simple (€)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V2G Simple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10,873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V2G 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10,820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85000" lnSpcReduction="20000"/>
          </a:bodyPr>
          <a:lstStyle/>
          <a:p>
            <a:pPr lvl="0"/>
            <a:r>
              <a:t>V2G RL saves €53/year vs Simple — less than Charge-Only RL (€120/year).</a:t>
            </a:r>
          </a:p>
          <a:p>
            <a:pPr lvl="0"/>
            <a:r>
              <a:t>V2G RL is €67/year more expensive than Charge-Only RL.</a:t>
            </a:r>
          </a:p>
          <a:p>
            <a:pPr lvl="0"/>
            <a:r>
              <a:t>Zero V2G revenue, zero energy discharged across all 365 days.</a:t>
            </a:r>
          </a:p>
          <a:p>
            <a:pPr lvl="0"/>
            <a:r>
              <a:t>The V2G capability provides no additional economic benefit at wholesale prices.</a:t>
            </a:r>
          </a:p>
        </p:txBody>
      </p:sp>
      <p:pic>
        <p:nvPicPr>
          <p:cNvPr id="2" name="Picture 1" descr="figures/simulation_results_multi_v2g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28600"/>
            <a:ext cx="5105400" cy="431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V2G Sell-Price Sensitivity (365 Days, 2018)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04200" cy="139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Sell 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V2G Simple Cost (€)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V2G RL Cost (€)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V2G Revenue (€)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V2G Discharged (kWh)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80% of buy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100% of buy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120% of buy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Three sell-price scenarios tested: 80%, 100%, and 120% of the wholesale buy price.</a:t>
            </a:r>
          </a:p>
          <a:p>
            <a:pPr lvl="0"/>
            <a:r>
              <a:rPr dirty="0"/>
              <a:t>Result: </a:t>
            </a:r>
            <a:r>
              <a:rPr b="1" dirty="0"/>
              <a:t>zero V2G discharge across all scenarios and all 365 days</a:t>
            </a:r>
            <a:r>
              <a:rPr dirty="0"/>
              <a:t>.</a:t>
            </a:r>
          </a:p>
          <a:p>
            <a:pPr lvl="0"/>
            <a:r>
              <a:rPr dirty="0"/>
              <a:t>Even at 120% sell-back, wholesale prices (€0.01–0.06/kWh) are too low for profitable arbitrage.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V2G Fails at Wholesale Prices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dirty="0"/>
              <a:t>Wholesale prices in France (2018) range €0.01–0.06/kWh — extremely low absolute levels.</a:t>
            </a:r>
          </a:p>
          <a:p>
            <a:pPr lvl="0"/>
            <a:r>
              <a:rPr dirty="0"/>
              <a:t>Even a 20% premium on sell-back produces only ~€0.01/kWh margin.</a:t>
            </a:r>
          </a:p>
          <a:p>
            <a:pPr lvl="0"/>
            <a:r>
              <a:rPr dirty="0"/>
              <a:t>The RL agent </a:t>
            </a:r>
            <a:r>
              <a:rPr dirty="0" err="1"/>
              <a:t>prioritises</a:t>
            </a:r>
            <a:r>
              <a:rPr dirty="0"/>
              <a:t> maintaining departure SoC over speculative discharge.</a:t>
            </a:r>
          </a:p>
          <a:p>
            <a:pPr lvl="0"/>
            <a:r>
              <a:rPr b="1" dirty="0"/>
              <a:t>For V2G to be viable, at least one condition must be met:</a:t>
            </a:r>
          </a:p>
          <a:p>
            <a:pPr marL="685800" lvl="1" indent="-342900">
              <a:buAutoNum type="arabicPeriod"/>
            </a:pPr>
            <a:r>
              <a:rPr dirty="0"/>
              <a:t>Retail-level prices (€0.15–0.30/kWh) to create sufficient spread</a:t>
            </a:r>
          </a:p>
          <a:p>
            <a:pPr marL="685800" lvl="1" indent="-342900">
              <a:buAutoNum type="arabicPeriod"/>
            </a:pPr>
            <a:r>
              <a:rPr dirty="0"/>
              <a:t>Greater intraday price volatility (peak-to-trough differential)</a:t>
            </a:r>
          </a:p>
          <a:p>
            <a:pPr marL="342900" lvl="1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Economic Comparison Across All Levels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Avg Daily Cost (€)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Annual Cost (€)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Annual Savings (€)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Simple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10,873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RL (Q-Learning)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10,753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RL + V2G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10,820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2" y="521208"/>
            <a:ext cx="6158545" cy="3569047"/>
          </a:xfrm>
        </p:spPr>
        <p:txBody>
          <a:bodyPr>
            <a:normAutofit/>
          </a:bodyPr>
          <a:lstStyle/>
          <a:p>
            <a:pPr lvl="0"/>
            <a:r>
              <a:rPr dirty="0"/>
              <a:t>Level 2 (Charge-Only RL) delivers the best economic outcome: €120/year saved.</a:t>
            </a:r>
          </a:p>
          <a:p>
            <a:pPr lvl="0"/>
            <a:r>
              <a:rPr dirty="0"/>
              <a:t>Level 3 (V2G RL) underperforms Level 2 by €67/year — V2G adds cost, not value.</a:t>
            </a:r>
          </a:p>
          <a:p>
            <a:pPr lvl="0"/>
            <a:r>
              <a:rPr dirty="0"/>
              <a:t>Savings are modest but consistent across all 365 days of simulation.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State of Charge Statistics (Annual Average)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1915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Mean SoC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Min SoC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Max SoC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Std Dev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Simple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74.7%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78.9%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RL (Charge-Only)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74.4%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78.9%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3.6%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RL (V2G)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74.7%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78.9%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All methods achieve mean departure SoC within the 70–80% target range.</a:t>
            </a:r>
          </a:p>
          <a:p>
            <a:pPr lvl="0"/>
            <a:r>
              <a:t>RL charge-only shows slightly more SoC variation (std 3.6%) — the agent trades off SoC margin for cost savings.</a:t>
            </a:r>
          </a:p>
          <a:p>
            <a:pPr lvl="0"/>
            <a:r>
              <a:t>V2G RL maintains tighter SoC control (std 2.9%), similar to Simple, because it avoids discharge.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lvl="0"/>
            <a:r>
              <a:t>Smart charging helps, but the annual improvement from Level 1 to Level 2 is modest (1.1%).</a:t>
            </a:r>
          </a:p>
          <a:p>
            <a:pPr lvl="0"/>
            <a:r>
              <a:t>Rule-based control already performs well because the office scenario is structured and predictable.</a:t>
            </a:r>
          </a:p>
          <a:p>
            <a:pPr lvl="0"/>
            <a:r>
              <a:t>RL is most attractive when fleet size grows or operating conditions become more complex.</a:t>
            </a:r>
          </a:p>
          <a:p>
            <a:pPr lvl="0"/>
            <a:r>
              <a:t>V2G depends strongly on absolute price levels and tariff design — not algorithm sophistication.</a:t>
            </a:r>
          </a:p>
          <a:p>
            <a:pPr lvl="0"/>
            <a:r>
              <a:t>The sell-price sensitivity analysis (80%, 100%, 120%) conclusively shows zero V2G activity at wholesale prices.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Practical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t>Use Level 1 rule-based charging for small fleets or low-complexity deployments.</a:t>
            </a:r>
          </a:p>
          <a:p>
            <a:pPr lvl="0"/>
            <a:r>
              <a:t>Use Level 2 RL when managing more than about 10 vehicles or when optimization value justifies training overhead.</a:t>
            </a:r>
          </a:p>
          <a:p>
            <a:pPr lvl="0"/>
            <a:r>
              <a:t>Consider V2G only when:</a:t>
            </a:r>
          </a:p>
          <a:p>
            <a:pPr lvl="1"/>
            <a:r>
              <a:t>retail tariffs are available (not wholesale)</a:t>
            </a:r>
          </a:p>
          <a:p>
            <a:pPr lvl="1"/>
            <a:r>
              <a:t>price volatility creates real arbitrage opportunity</a:t>
            </a:r>
          </a:p>
          <a:p>
            <a:pPr lvl="1"/>
            <a:r>
              <a:t>battery degradation and user acceptance are addressed</a:t>
            </a:r>
          </a:p>
          <a:p>
            <a:pPr lvl="1"/>
            <a:r>
              <a:t>the fleet is large or company-owned</a:t>
            </a:r>
          </a:p>
          <a:p>
            <a:pPr lvl="1"/>
            <a:r>
              <a:t>ancillary service revenue is accessible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Limitations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t>Current simulations assume perfect foresight for load and solar generation.</a:t>
            </a:r>
          </a:p>
          <a:p>
            <a:pPr lvl="0"/>
            <a:r>
              <a:t>Battery aging, user preferences, and heterogeneous fleets are simplified or omitted.</a:t>
            </a:r>
          </a:p>
          <a:p>
            <a:pPr lvl="0"/>
            <a:r>
              <a:t>V2G analysis limited to wholesale prices — retail tariff scenarios remain unexplored.</a:t>
            </a:r>
          </a:p>
          <a:p>
            <a:pPr lvl="0"/>
            <a:r>
              <a:t>Next steps:</a:t>
            </a:r>
          </a:p>
          <a:p>
            <a:pPr lvl="1"/>
            <a:r>
              <a:t>uncertainty-aware optimization</a:t>
            </a:r>
          </a:p>
          <a:p>
            <a:pPr lvl="1"/>
            <a:r>
              <a:t>explicit battery degradation models</a:t>
            </a:r>
          </a:p>
          <a:p>
            <a:pPr lvl="1"/>
            <a:r>
              <a:t>retail tariff and time-of-use pricing scenarios</a:t>
            </a:r>
          </a:p>
          <a:p>
            <a:pPr lvl="1"/>
            <a:r>
              <a:t>heterogeneous fleet management</a:t>
            </a:r>
          </a:p>
          <a:p>
            <a:pPr lvl="1"/>
            <a:r>
              <a:t>deeper forecasting and field validation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0"/>
            <a:r>
              <a:t>Smart EV charging in office buildings is technically feasible and economically useful.</a:t>
            </a:r>
          </a:p>
          <a:p>
            <a:pPr lvl="0"/>
            <a:r>
              <a:t>Over a full year (365 days, 2018 data), RL charge-only provides the best outcome with €120/year savings (1.1%).</a:t>
            </a:r>
          </a:p>
          <a:p>
            <a:pPr lvl="0"/>
            <a:r>
              <a:t>V2G does not add value at wholesale price levels — confirmed across 80%, 100%, and 120% sell-back rates.</a:t>
            </a:r>
          </a:p>
          <a:p>
            <a:pPr lvl="0"/>
            <a:r>
              <a:t>The sell-price sensitivity analysis is the key new finding: </a:t>
            </a:r>
            <a:r>
              <a:rPr b="1"/>
              <a:t>V2G profitability requires retail-level pricing, not just algorithm improvements.</a:t>
            </a:r>
          </a:p>
          <a:p>
            <a:pPr lvl="0"/>
            <a:r>
              <a:t>The main takeaway is not “maximum intelligence at all costs” but “match the intelligence level to the business case.”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Questions and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1426</Words>
  <Application>Microsoft Macintosh PowerPoint</Application>
  <PresentationFormat>On-screen Show (16:9)</PresentationFormat>
  <Paragraphs>226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Gill Sans MT</vt:lpstr>
      <vt:lpstr>Gallery</vt:lpstr>
      <vt:lpstr>Smart Electric Vehicle Charging in Office Buildings</vt:lpstr>
      <vt:lpstr>Motivation</vt:lpstr>
      <vt:lpstr>Research Objective</vt:lpstr>
      <vt:lpstr>Case Study Setup</vt:lpstr>
      <vt:lpstr>Why Office Buildings</vt:lpstr>
      <vt:lpstr>Methods Compared</vt:lpstr>
      <vt:lpstr>PowerPoint Presentation</vt:lpstr>
      <vt:lpstr>Annual Charge-Only Results (365 Days)</vt:lpstr>
      <vt:lpstr>PowerPoint Presentation</vt:lpstr>
      <vt:lpstr>Annual Energy Performance</vt:lpstr>
      <vt:lpstr>PowerPoint Presentation</vt:lpstr>
      <vt:lpstr>Solar Self-Consumption</vt:lpstr>
      <vt:lpstr>PowerPoint Presentation</vt:lpstr>
      <vt:lpstr>Annual V2G Results</vt:lpstr>
      <vt:lpstr>PowerPoint Presentation</vt:lpstr>
      <vt:lpstr>V2G Sell-Price Sensitivity (365 Days, 2018)</vt:lpstr>
      <vt:lpstr>PowerPoint Presentation</vt:lpstr>
      <vt:lpstr>Why V2G Fails at Wholesale Prices</vt:lpstr>
      <vt:lpstr>Economic Comparison Across All Levels</vt:lpstr>
      <vt:lpstr>PowerPoint Presentation</vt:lpstr>
      <vt:lpstr>State of Charge Statistics (Annual Average)</vt:lpstr>
      <vt:lpstr>PowerPoint Presentation</vt:lpstr>
      <vt:lpstr>Key Interpretation</vt:lpstr>
      <vt:lpstr>Practical Recommendations</vt:lpstr>
      <vt:lpstr>Limitations and Future Work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Electric Vehicle Charging in Office Buildings</dc:title>
  <dc:creator>ChargingAlgorithm thesis deck</dc:creator>
  <cp:keywords/>
  <cp:lastModifiedBy>Kontomitros, Christos</cp:lastModifiedBy>
  <cp:revision>1</cp:revision>
  <dcterms:created xsi:type="dcterms:W3CDTF">2026-04-22T21:48:21Z</dcterms:created>
  <dcterms:modified xsi:type="dcterms:W3CDTF">2026-04-28T14:26:42Z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date">
    <vt:lpwstr>April 2026</vt:lpwstr>
  </property>
  <property fmtid="{D5CDD505-2E9C-101B-9397-08002B2CF9AE}" pid="4" name="subtitle">
    <vt:lpwstr>Thesis Presentation</vt:lpwstr>
  </property>
</Properties>
</file>